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502920" y="1417320"/>
            <a:ext cx="109728" cy="4251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1417320"/>
            <a:ext cx="5806440" cy="42519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144000" y="228600"/>
            <a:ext cx="1920240" cy="89611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417320"/>
            <a:ext cx="3749039" cy="402336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02920" y="502920"/>
            <a:ext cx="5623560" cy="5742432"/>
          </a:xfrm>
          <a:prstGeom prst="roundRect">
            <a:avLst/>
          </a:prstGeom>
          <a:solidFill>
            <a:srgbClr val="14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02920"/>
            <a:ext cx="91440" cy="5742432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82296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ED6EB"/>
                </a:solidFill>
                <a:latin typeface="Aptos"/>
              </a:defRPr>
            </a:pPr>
            <a:r>
              <a:t>SMART INDIA HACKATHON 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" y="3017520"/>
            <a:ext cx="1234440" cy="40233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TITLE PAGE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" y="3602736"/>
            <a:ext cx="4681728" cy="1874519"/>
          </a:xfrm>
          <a:prstGeom prst="roundRect">
            <a:avLst/>
          </a:prstGeom>
          <a:solidFill>
            <a:srgbClr val="1F3957"/>
          </a:solidFill>
          <a:ln>
            <a:solidFill>
              <a:srgbClr val="42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" y="3803904"/>
            <a:ext cx="42519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ptos"/>
              </a:defRPr>
            </a:pPr>
            <a:r>
              <a:t>PROBLEM STATEMENT ID  •  SIH26206</a:t>
            </a:r>
          </a:p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ptos"/>
              </a:defRPr>
            </a:pPr>
            <a:r>
              <a:t>PROBLEM STATEMENT TITLE  •  Student Innovation</a:t>
            </a:r>
          </a:p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ptos"/>
              </a:defRPr>
            </a:pPr>
            <a:r>
              <a:t>THEME  •  Disaster Management</a:t>
            </a:r>
          </a:p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ptos"/>
              </a:defRPr>
            </a:pPr>
            <a:r>
              <a:t>PS CATEGORY  •  Software</a:t>
            </a:r>
          </a:p>
          <a:p>
            <a:pPr>
              <a:spcAft>
                <a:spcPts val="500"/>
              </a:spcAft>
              <a:defRPr sz="1150" b="1">
                <a:solidFill>
                  <a:srgbClr val="FFFFFF"/>
                </a:solidFill>
                <a:latin typeface="Aptos"/>
              </a:defRPr>
            </a:pPr>
            <a:r>
              <a:t>TEAM NAME  •  StructAI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5065776"/>
            <a:ext cx="960120" cy="329184"/>
          </a:xfrm>
          <a:prstGeom prst="roundRect">
            <a:avLst/>
          </a:prstGeom>
          <a:solidFill>
            <a:srgbClr val="138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StructAI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568756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2DEE9"/>
                </a:solidFill>
                <a:latin typeface="Aptos"/>
              </a:defRPr>
            </a:pPr>
            <a:r>
              <a:t>STRUCTURAL SAFETY  •  AI  •  EARLY WARNING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1243584"/>
            <a:ext cx="4892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AI-BASED REAL-TIME</a:t>
            </a:r>
          </a:p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MULTI-HAZARD RISK MONITORING</a:t>
            </a:r>
          </a:p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AND EARLY WARNING FOR CIVIL INFRASTRUCTURE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2" y="2743200"/>
            <a:ext cx="1417320" cy="256032"/>
          </a:xfrm>
          <a:prstGeom prst="roundRect">
            <a:avLst/>
          </a:prstGeom>
          <a:solidFill>
            <a:srgbClr val="26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" y="2770632"/>
            <a:ext cx="136245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MULTI-HAZARD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8880" y="2743200"/>
            <a:ext cx="1417320" cy="256032"/>
          </a:xfrm>
          <a:prstGeom prst="roundRect">
            <a:avLst/>
          </a:prstGeom>
          <a:solidFill>
            <a:srgbClr val="26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96312" y="2770632"/>
            <a:ext cx="136245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REAL-TIME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41648" y="2743200"/>
            <a:ext cx="1417320" cy="256032"/>
          </a:xfrm>
          <a:prstGeom prst="roundRect">
            <a:avLst/>
          </a:prstGeom>
          <a:solidFill>
            <a:srgbClr val="26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2770632"/>
            <a:ext cx="136245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EARLY WARNING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5" name="Rounded Rectangle 15374"/>
          <p:cNvSpPr/>
          <p:nvPr/>
        </p:nvSpPr>
        <p:spPr>
          <a:xfrm>
            <a:off x="6217920" y="3840480"/>
            <a:ext cx="52303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658368" y="3840480"/>
            <a:ext cx="523036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658368" y="1417320"/>
            <a:ext cx="10789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11480" y="1143000"/>
            <a:ext cx="112928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ectangle 1536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600200"/>
            <a:ext cx="12191999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  <a:defRPr sz="1700" b="1">
                <a:solidFill>
                  <a:srgbClr val="232323"/>
                </a:solidFill>
              </a:defRPr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50">
                <a:solidFill>
                  <a:srgbClr val="FFFFFF"/>
                </a:solidFill>
                <a:latin typeface="Aptos"/>
              </a:defRPr>
            </a:pPr>
            <a:r>
              <a:rPr lang="en-US">
                <a:solidFill>
                  <a:schemeClr val="bg1"/>
                </a:solidFill>
                <a:latin typeface="Aptos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74E9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rPr>
                <a:latin typeface="Aptos"/>
              </a:rPr>
              <a:t>StructAI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2377440" y="29260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defRPr sz="2500" b="1">
                <a:solidFill>
                  <a:srgbClr val="162B43"/>
                </a:solidFill>
                <a:latin typeface="Aptos Display"/>
              </a:defRPr>
            </a:pPr>
            <a:r>
              <a:t>IDEA TITLE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5074920" y="841248"/>
            <a:ext cx="182880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ectangle 15367"/>
          <p:cNvSpPr/>
          <p:nvPr/>
        </p:nvSpPr>
        <p:spPr>
          <a:xfrm>
            <a:off x="658368" y="1417320"/>
            <a:ext cx="68580" cy="2240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859536" y="1545336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800" b="1">
                <a:solidFill>
                  <a:srgbClr val="162B43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59536" y="1984248"/>
            <a:ext cx="10442448" cy="1545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50">
                <a:solidFill>
                  <a:srgbClr val="232A31"/>
                </a:solidFill>
                <a:latin typeface="Aptos"/>
              </a:defRPr>
            </a:pPr>
            <a:r>
              <a:t>• Continuously analyzes structural sensor data to identify abnormal behavior and emerging risk.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50">
                <a:solidFill>
                  <a:srgbClr val="232A31"/>
                </a:solidFill>
                <a:latin typeface="Aptos"/>
              </a:defRPr>
            </a:pPr>
            <a:r>
              <a:t>• CNN extracts signal patterns; LSTM learns damage evolution over time; GA optimizes model parameters.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50">
                <a:solidFill>
                  <a:srgbClr val="232A31"/>
                </a:solidFill>
                <a:latin typeface="Aptos"/>
              </a:defRPr>
            </a:pPr>
            <a:r>
              <a:t>• Produces hazard classification, risk/damage severity and real-time early-warning alerts.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50">
                <a:solidFill>
                  <a:srgbClr val="232A31"/>
                </a:solidFill>
                <a:latin typeface="Aptos"/>
              </a:defRPr>
            </a:pPr>
            <a:r>
              <a:t>• Designed for bridges, buildings, dams, columns and other vulnerable civil infrastructure.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658368" y="3840480"/>
            <a:ext cx="68580" cy="1417320"/>
          </a:xfrm>
          <a:prstGeom prst="rect">
            <a:avLst/>
          </a:prstGeom>
          <a:solidFill>
            <a:srgbClr val="1F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859536" y="3968496"/>
            <a:ext cx="4910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600" b="1">
                <a:solidFill>
                  <a:srgbClr val="162B43"/>
                </a:solidFill>
                <a:latin typeface="Aptos"/>
              </a:defRPr>
            </a:pPr>
            <a:r>
              <a:t>How it addresses the problem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59536" y="4407408"/>
            <a:ext cx="4882896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Moves from periodic/manual inspection toward continuous, predictive, multi-hazard monitoring.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217920" y="3840480"/>
            <a:ext cx="68580" cy="1417320"/>
          </a:xfrm>
          <a:prstGeom prst="rect">
            <a:avLst/>
          </a:prstGeom>
          <a:solidFill>
            <a:srgbClr val="67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6419088" y="3968496"/>
            <a:ext cx="49103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600" b="1">
                <a:solidFill>
                  <a:srgbClr val="162B43"/>
                </a:solidFill>
                <a:latin typeface="Aptos"/>
              </a:defRPr>
            </a:pPr>
            <a:r>
              <a:t>Innovation &amp; uniqueness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419088" y="4407408"/>
            <a:ext cx="4882896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Unified CNN-LSTM-GA architecture combines spatial features, temporal memory and automated optimization.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68680" y="5148072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97382"/>
                </a:solidFill>
                <a:latin typeface="Aptos"/>
              </a:rPr>
              <a:t>PROJECT SCOPE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063240" y="5102352"/>
            <a:ext cx="2331720" cy="384048"/>
          </a:xfrm>
          <a:prstGeom prst="roundRect">
            <a:avLst/>
          </a:prstGeom>
          <a:solidFill>
            <a:srgbClr val="E9F4FA"/>
          </a:solidFill>
          <a:ln w="10160">
            <a:solidFill>
              <a:srgbClr val="D5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344F"/>
                </a:solidFill>
                <a:latin typeface="Aptos"/>
              </a:rPr>
              <a:t>MULTI-HAZARD  •  Hazard coverage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5897880" y="5102352"/>
            <a:ext cx="2331720" cy="384048"/>
          </a:xfrm>
          <a:prstGeom prst="roundRect">
            <a:avLst/>
          </a:prstGeom>
          <a:solidFill>
            <a:srgbClr val="E9F4FA"/>
          </a:solidFill>
          <a:ln w="10160">
            <a:solidFill>
              <a:srgbClr val="D5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344F"/>
                </a:solidFill>
                <a:latin typeface="Aptos"/>
              </a:rPr>
              <a:t>MULTI-STRUCTURE  •  Infrastructure types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8732520" y="5102352"/>
            <a:ext cx="2331720" cy="384048"/>
          </a:xfrm>
          <a:prstGeom prst="roundRect">
            <a:avLst/>
          </a:prstGeom>
          <a:solidFill>
            <a:srgbClr val="E9F4FA"/>
          </a:solidFill>
          <a:ln w="10160">
            <a:solidFill>
              <a:srgbClr val="D5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19" b="1">
                <a:solidFill>
                  <a:srgbClr val="1C344F"/>
                </a:solidFill>
                <a:latin typeface="Aptos"/>
              </a:rPr>
              <a:t>MULTI-SENSOR  •  Sensor inputs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8" name="Rounded Rectangle 17427"/>
          <p:cNvSpPr/>
          <p:nvPr/>
        </p:nvSpPr>
        <p:spPr>
          <a:xfrm>
            <a:off x="658368" y="1353312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11480" y="1143000"/>
            <a:ext cx="112928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>
              <a:defRPr sz="2400" b="1">
                <a:solidFill>
                  <a:srgbClr val="232323"/>
                </a:solidFill>
              </a:defRPr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8760"/>
            <a:ext cx="9385300" cy="1965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700" b="1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1050">
                <a:solidFill>
                  <a:srgbClr val="FFFFFF"/>
                </a:solidFill>
                <a:latin typeface="Aptos"/>
              </a:defRPr>
            </a:pPr>
            <a:r>
              <a:rPr lang="en-US">
                <a:solidFill>
                  <a:schemeClr val="bg1"/>
                </a:solidFill>
                <a:latin typeface="Aptos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74E9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rPr>
                <a:latin typeface="Aptos"/>
              </a:rPr>
              <a:t>StructAI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2377440" y="29260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defRPr sz="2500" b="1">
                <a:solidFill>
                  <a:srgbClr val="162B43"/>
                </a:solidFill>
                <a:latin typeface="Aptos Display"/>
              </a:defRPr>
            </a:pPr>
            <a:r>
              <a:t>TECHNICAL APPROACH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5074920" y="841248"/>
            <a:ext cx="182880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658368" y="1353312"/>
            <a:ext cx="68580" cy="14173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859536" y="1481328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62B43"/>
                </a:solidFill>
                <a:latin typeface="Aptos"/>
              </a:defRPr>
            </a:pPr>
            <a:r>
              <a:t>Technologies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59536" y="1920240"/>
            <a:ext cx="1044244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370">
                <a:solidFill>
                  <a:srgbClr val="232A31"/>
                </a:solidFill>
                <a:latin typeface="Aptos"/>
              </a:defRPr>
            </a:pPr>
            <a:r>
              <a:t>• Python • TensorFlow/Keras • NumPy • Pandas • scikit-learn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370">
                <a:solidFill>
                  <a:srgbClr val="232A31"/>
                </a:solidFill>
                <a:latin typeface="Aptos"/>
              </a:defRPr>
            </a:pPr>
            <a:r>
              <a:t>• CNN + LSTM • Genetic Algorithm (GA/DEAP) • Wavelet signal processing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370">
                <a:solidFill>
                  <a:srgbClr val="232A31"/>
                </a:solidFill>
                <a:latin typeface="Aptos"/>
              </a:defRPr>
            </a:pPr>
            <a:r>
              <a:t>• FastAPI/Flask backend • Streamlit/Plotly monitoring dashboard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370">
                <a:solidFill>
                  <a:srgbClr val="232A31"/>
                </a:solidFill>
                <a:latin typeface="Aptos"/>
              </a:defRPr>
            </a:pPr>
            <a:r>
              <a:t>• Sensor inputs: vibration, strain, wind speed, water pressure and corrosion-related data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1216152" y="2990088"/>
            <a:ext cx="310896" cy="31089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85800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Sensor
Data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2107692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2788920" y="2990088"/>
            <a:ext cx="310896" cy="310896"/>
          </a:xfrm>
          <a:prstGeom prst="ellipse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258568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Signal
Cleaning</a:t>
            </a:r>
          </a:p>
        </p:txBody>
      </p:sp>
      <p:sp>
        <p:nvSpPr>
          <p:cNvPr id="17438" name="Right Arrow 17437"/>
          <p:cNvSpPr/>
          <p:nvPr/>
        </p:nvSpPr>
        <p:spPr>
          <a:xfrm>
            <a:off x="3680460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4361688" y="2990088"/>
            <a:ext cx="310896" cy="310896"/>
          </a:xfrm>
          <a:prstGeom prst="ellipse">
            <a:avLst/>
          </a:prstGeom>
          <a:solidFill>
            <a:srgbClr val="6C4DAA"/>
          </a:solidFill>
          <a:ln>
            <a:solidFill>
              <a:srgbClr val="6C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831336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C4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CNN
Features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5253228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5934456" y="2990088"/>
            <a:ext cx="310896" cy="310896"/>
          </a:xfrm>
          <a:prstGeom prst="ellipse">
            <a:avLst/>
          </a:prstGeom>
          <a:solidFill>
            <a:srgbClr val="00875A"/>
          </a:solidFill>
          <a:ln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5404104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LSTM
Temporal
Learning</a:t>
            </a:r>
          </a:p>
        </p:txBody>
      </p:sp>
      <p:sp>
        <p:nvSpPr>
          <p:cNvPr id="17444" name="Right Arrow 17443"/>
          <p:cNvSpPr/>
          <p:nvPr/>
        </p:nvSpPr>
        <p:spPr>
          <a:xfrm>
            <a:off x="6825996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7507224" y="2990088"/>
            <a:ext cx="310896" cy="310896"/>
          </a:xfrm>
          <a:prstGeom prst="ellipse">
            <a:avLst/>
          </a:prstGeom>
          <a:solidFill>
            <a:srgbClr val="F58214"/>
          </a:solidFill>
          <a:ln>
            <a:solidFill>
              <a:srgbClr val="F5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976872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58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GA
Optimization</a:t>
            </a:r>
          </a:p>
        </p:txBody>
      </p:sp>
      <p:sp>
        <p:nvSpPr>
          <p:cNvPr id="17447" name="Right Arrow 17446"/>
          <p:cNvSpPr/>
          <p:nvPr/>
        </p:nvSpPr>
        <p:spPr>
          <a:xfrm>
            <a:off x="8398764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Oval 17447"/>
          <p:cNvSpPr/>
          <p:nvPr/>
        </p:nvSpPr>
        <p:spPr>
          <a:xfrm>
            <a:off x="9079992" y="2990088"/>
            <a:ext cx="310896" cy="310896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549640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Risk /
Damage
Prediction</a:t>
            </a:r>
          </a:p>
        </p:txBody>
      </p:sp>
      <p:sp>
        <p:nvSpPr>
          <p:cNvPr id="17450" name="Right Arrow 17449"/>
          <p:cNvSpPr/>
          <p:nvPr/>
        </p:nvSpPr>
        <p:spPr>
          <a:xfrm>
            <a:off x="9971532" y="3968496"/>
            <a:ext cx="118872" cy="182880"/>
          </a:xfrm>
          <a:prstGeom prst="rightArrow">
            <a:avLst/>
          </a:prstGeom>
          <a:solidFill>
            <a:srgbClr val="5F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10652760" y="2990088"/>
            <a:ext cx="310896" cy="310896"/>
          </a:xfrm>
          <a:prstGeom prst="ellipse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/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10122408" y="3474720"/>
            <a:ext cx="1389888" cy="105156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b="1" sz="1300">
                <a:solidFill>
                  <a:srgbClr val="183250"/>
                </a:solidFill>
                <a:latin typeface="Aptos Display"/>
              </a:rPr>
              <a:t>Early
Warning
Dashboard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49808" y="4590288"/>
            <a:ext cx="128016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97382"/>
                </a:solidFill>
                <a:latin typeface="Aptos"/>
              </a:rPr>
              <a:t>MODEL LOGIC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874519" y="4572000"/>
            <a:ext cx="2423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1947672" y="4599432"/>
            <a:ext cx="5669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07AC4"/>
                </a:solidFill>
                <a:latin typeface="Aptos"/>
              </a:rPr>
              <a:t>CNN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2514600" y="4599432"/>
            <a:ext cx="166420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4404E"/>
                </a:solidFill>
                <a:latin typeface="Aptos"/>
              </a:rPr>
              <a:t>Pattern extraction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663440" y="4572000"/>
            <a:ext cx="2423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4736592" y="4599432"/>
            <a:ext cx="5669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6915C"/>
                </a:solidFill>
                <a:latin typeface="Aptos"/>
              </a:rPr>
              <a:t>LSTM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5303520" y="4599432"/>
            <a:ext cx="166420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4404E"/>
                </a:solidFill>
                <a:latin typeface="Aptos"/>
              </a:rPr>
              <a:t>Temporal memory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452359" y="4572000"/>
            <a:ext cx="2423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525511" y="4599432"/>
            <a:ext cx="56692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694BA0"/>
                </a:solidFill>
                <a:latin typeface="Aptos"/>
              </a:rPr>
              <a:t>GA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8092439" y="4599432"/>
            <a:ext cx="166420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34404E"/>
                </a:solidFill>
                <a:latin typeface="Aptos"/>
              </a:rPr>
              <a:t>Auto-tuning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1216152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2788920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361688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5934456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507224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9079992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0652760" y="3136392"/>
            <a:ext cx="3108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4572000" y="2788920"/>
            <a:ext cx="30449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E3752"/>
                </a:solidFill>
                <a:latin typeface="Aptos"/>
              </a:rPr>
              <a:t>SYSTEM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ounded Rectangle 17422"/>
          <p:cNvSpPr/>
          <p:nvPr/>
        </p:nvSpPr>
        <p:spPr>
          <a:xfrm>
            <a:off x="7936992" y="1371600"/>
            <a:ext cx="3511296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297680" y="137160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58368" y="1371600"/>
            <a:ext cx="34290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143000"/>
            <a:ext cx="112928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>
              <a:defRPr sz="2300" b="1">
                <a:solidFill>
                  <a:srgbClr val="232323"/>
                </a:solidFill>
              </a:defRPr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8760"/>
            <a:ext cx="93853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ptos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FFFFFF"/>
                </a:solidFill>
                <a:latin typeface="Aptos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74E9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rPr>
                <a:latin typeface="Aptos"/>
              </a:rPr>
              <a:t>StructAI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377440" y="29260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defRPr sz="2500" b="1">
                <a:solidFill>
                  <a:srgbClr val="162B43"/>
                </a:solidFill>
                <a:latin typeface="Aptos Display"/>
              </a:defRPr>
            </a:pPr>
            <a:r>
              <a:t>FEASIBILITY AND VIABILITY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5074920" y="841248"/>
            <a:ext cx="182880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58368" y="1371600"/>
            <a:ext cx="68580" cy="3611880"/>
          </a:xfrm>
          <a:prstGeom prst="rect">
            <a:avLst/>
          </a:prstGeom>
          <a:solidFill>
            <a:srgbClr val="1F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59536" y="149961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62B43"/>
                </a:solidFill>
                <a:latin typeface="Aptos"/>
              </a:defRPr>
            </a:pPr>
            <a:r>
              <a:t>Feasibility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59536" y="1938528"/>
            <a:ext cx="3081528" cy="2916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Software-first prototype can use public, historical or simulated structural sensor datasets.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Uses mature Python deep-learning and optimization libraries; no mandatory custom hardware.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4297680" y="1371600"/>
            <a:ext cx="68580" cy="3611880"/>
          </a:xfrm>
          <a:prstGeom prst="rect">
            <a:avLst/>
          </a:prstGeom>
          <a:solidFill>
            <a:srgbClr val="EB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498848" y="149961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62B43"/>
                </a:solidFill>
                <a:latin typeface="Aptos"/>
              </a:defRPr>
            </a:pPr>
            <a:r>
              <a:t>Challenges / Risks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498848" y="1938528"/>
            <a:ext cx="3081528" cy="2916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Limited labeled damage events and class imbalance for rare hazards.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Sensor noise, missing readings and domain differences across structures.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Model explainability and adaptation as structures age.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7936992" y="1371600"/>
            <a:ext cx="68580" cy="3611880"/>
          </a:xfrm>
          <a:prstGeom prst="rect">
            <a:avLst/>
          </a:prstGeom>
          <a:solidFill>
            <a:srgbClr val="67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138160" y="1499616"/>
            <a:ext cx="319125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700" b="1">
                <a:solidFill>
                  <a:srgbClr val="162B43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138160" y="1938528"/>
            <a:ext cx="3163824" cy="2916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Wavelet denoising + preprocessing + data augmentation / class balancing.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GA-based tuning, validation across multiple hazard classes and continuous monitoring.</a:t>
            </a:r>
          </a:p>
          <a:p>
            <a:pPr>
              <a:lnSpc>
                <a:spcPct val="102000"/>
              </a:lnSpc>
              <a:spcAft>
                <a:spcPts val="200"/>
              </a:spcAft>
              <a:defRPr sz="1400">
                <a:solidFill>
                  <a:srgbClr val="232A31"/>
                </a:solidFill>
                <a:latin typeface="Aptos"/>
              </a:defRPr>
            </a:pPr>
            <a:r>
              <a:t>• Future use of online learning, physics-informed AI and Grad-CAM explanations.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859536" y="5056632"/>
            <a:ext cx="1828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697382"/>
                </a:solidFill>
                <a:latin typeface="Aptos"/>
              </a:rPr>
              <a:t>PROTOTYPE DEPLOYMENT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834640" y="5020056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2907792" y="5084064"/>
            <a:ext cx="16824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C344F"/>
                </a:solidFill>
                <a:latin typeface="Aptos"/>
              </a:rPr>
              <a:t>Sensor / Data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4681728" y="5239512"/>
            <a:ext cx="292608" cy="0"/>
          </a:xfrm>
          <a:prstGeom prst="line">
            <a:avLst/>
          </a:prstGeom>
          <a:ln w="2032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Isosceles Triangle 17430"/>
          <p:cNvSpPr/>
          <p:nvPr/>
        </p:nvSpPr>
        <p:spPr>
          <a:xfrm rot="5400000">
            <a:off x="4919472" y="5184648"/>
            <a:ext cx="109728" cy="109728"/>
          </a:xfrm>
          <a:prstGeom prst="triangle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5029200" y="5020056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102352" y="5084064"/>
            <a:ext cx="16824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C344F"/>
                </a:solidFill>
                <a:latin typeface="Aptos"/>
              </a:rPr>
              <a:t>AI Inference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6876288" y="5239512"/>
            <a:ext cx="292608" cy="0"/>
          </a:xfrm>
          <a:prstGeom prst="line">
            <a:avLst/>
          </a:prstGeom>
          <a:ln w="2032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Isosceles Triangle 17434"/>
          <p:cNvSpPr/>
          <p:nvPr/>
        </p:nvSpPr>
        <p:spPr>
          <a:xfrm rot="5400000">
            <a:off x="7114032" y="5184648"/>
            <a:ext cx="109728" cy="109728"/>
          </a:xfrm>
          <a:prstGeom prst="triangle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7223760" y="5020056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296912" y="5084064"/>
            <a:ext cx="16824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C344F"/>
                </a:solidFill>
                <a:latin typeface="Aptos"/>
              </a:rPr>
              <a:t>Risk Engine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9070848" y="5239512"/>
            <a:ext cx="292608" cy="0"/>
          </a:xfrm>
          <a:prstGeom prst="line">
            <a:avLst/>
          </a:prstGeom>
          <a:ln w="20320">
            <a:solidFill>
              <a:srgbClr val="96A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Isosceles Triangle 17438"/>
          <p:cNvSpPr/>
          <p:nvPr/>
        </p:nvSpPr>
        <p:spPr>
          <a:xfrm rot="5400000">
            <a:off x="9308592" y="5184648"/>
            <a:ext cx="109728" cy="109728"/>
          </a:xfrm>
          <a:prstGeom prst="triangle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9418320" y="5020056"/>
            <a:ext cx="1828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9491472" y="5084064"/>
            <a:ext cx="1682496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1C344F"/>
                </a:solidFill>
                <a:latin typeface="Aptos"/>
              </a:rPr>
              <a:t>Dashboard + Alert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1" name="Rounded Rectangle 17430"/>
          <p:cNvSpPr/>
          <p:nvPr/>
        </p:nvSpPr>
        <p:spPr>
          <a:xfrm>
            <a:off x="658368" y="4873752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58368" y="3986784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58368" y="3099816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58368" y="2212848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58368" y="1325880"/>
            <a:ext cx="107899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143000"/>
            <a:ext cx="112928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>
              <a:defRPr sz="2400" b="1">
                <a:solidFill>
                  <a:srgbClr val="232323"/>
                </a:solidFill>
              </a:defRPr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08760"/>
            <a:ext cx="93853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ptos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FFFFFF"/>
                </a:solidFill>
                <a:latin typeface="Aptos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74E9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rPr>
                <a:latin typeface="Aptos"/>
              </a:rPr>
              <a:t>StructAI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377440" y="29260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defRPr sz="2500" b="1">
                <a:solidFill>
                  <a:srgbClr val="162B43"/>
                </a:solidFill>
                <a:latin typeface="Aptos Display"/>
              </a:defRPr>
            </a:pPr>
            <a:r>
              <a:t>IMPACT AND BENEFITS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5074920" y="841248"/>
            <a:ext cx="182880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658368" y="1325880"/>
            <a:ext cx="68580" cy="7132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859536" y="1453896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450" b="1">
                <a:solidFill>
                  <a:srgbClr val="162B43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59536" y="1892808"/>
            <a:ext cx="10442448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170">
                <a:solidFill>
                  <a:srgbClr val="232A31"/>
                </a:solidFill>
                <a:latin typeface="Aptos"/>
              </a:defRPr>
            </a:pPr>
            <a:r>
              <a:t>• Bridge/building/dam owners, civil engineers, disaster-management authorities and infrastructure operators.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58368" y="2212848"/>
            <a:ext cx="68580" cy="713232"/>
          </a:xfrm>
          <a:prstGeom prst="rect">
            <a:avLst/>
          </a:prstGeom>
          <a:solidFill>
            <a:srgbClr val="1F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59536" y="2340864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450" b="1">
                <a:solidFill>
                  <a:srgbClr val="162B43"/>
                </a:solidFill>
                <a:latin typeface="Aptos"/>
              </a:defRPr>
            </a:pPr>
            <a:r>
              <a:t>Safety impact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59536" y="2779776"/>
            <a:ext cx="10442448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170">
                <a:solidFill>
                  <a:srgbClr val="232A31"/>
                </a:solidFill>
                <a:latin typeface="Aptos"/>
              </a:defRPr>
            </a:pPr>
            <a:r>
              <a:t>• Earlier identification of hazardous behavior enables faster inspection, evacuation or intervention decisions.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658368" y="3099816"/>
            <a:ext cx="68580" cy="713232"/>
          </a:xfrm>
          <a:prstGeom prst="rect">
            <a:avLst/>
          </a:prstGeom>
          <a:solidFill>
            <a:srgbClr val="EB7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859536" y="3227832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450" b="1">
                <a:solidFill>
                  <a:srgbClr val="162B43"/>
                </a:solidFill>
                <a:latin typeface="Aptos"/>
              </a:defRPr>
            </a:pPr>
            <a:r>
              <a:t>Economic impact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59536" y="3666744"/>
            <a:ext cx="10442448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170">
                <a:solidFill>
                  <a:srgbClr val="232A31"/>
                </a:solidFill>
                <a:latin typeface="Aptos"/>
              </a:defRPr>
            </a:pPr>
            <a:r>
              <a:t>• Supports predictive maintenance, reduces avoidable downtime and helps prioritize inspection resources.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58368" y="3986784"/>
            <a:ext cx="68580" cy="713232"/>
          </a:xfrm>
          <a:prstGeom prst="rect">
            <a:avLst/>
          </a:prstGeom>
          <a:solidFill>
            <a:srgbClr val="67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859536" y="4114800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450" b="1">
                <a:solidFill>
                  <a:srgbClr val="162B43"/>
                </a:solidFill>
                <a:latin typeface="Aptos"/>
              </a:defRPr>
            </a:pPr>
            <a:r>
              <a:t>Environmental / societal impact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59536" y="4553712"/>
            <a:ext cx="10442448" cy="18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  <a:defRPr sz="1170">
                <a:solidFill>
                  <a:srgbClr val="232A31"/>
                </a:solidFill>
                <a:latin typeface="Aptos"/>
              </a:defRPr>
            </a:pPr>
            <a:r>
              <a:t>• Improves resilience of critical infrastructure and reduces the consequences of infrastructure failure.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658368" y="4873752"/>
            <a:ext cx="68580" cy="713232"/>
          </a:xfrm>
          <a:prstGeom prst="rect">
            <a:avLst/>
          </a:prstGeom>
          <a:solidFill>
            <a:srgbClr val="1F9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59536" y="5001768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C344F"/>
                </a:solidFill>
                <a:latin typeface="Aptos"/>
              </a:rPr>
              <a:t>Expected outcomes &amp; validation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59536" y="5394960"/>
            <a:ext cx="103784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1C344F"/>
                </a:solidFill>
                <a:latin typeface="Aptos"/>
              </a:rPr>
              <a:t>• Multi-hazard risk classification and damage-severity estimation from sensor streams.</a:t>
            </a:r>
          </a:p>
          <a:p>
            <a:r>
              <a:rPr sz="950">
                <a:solidFill>
                  <a:srgbClr val="1C344F"/>
                </a:solidFill>
                <a:latin typeface="Aptos"/>
              </a:rPr>
              <a:t>• Real-time early-warning generation, followed by systematic experimental validation before reporting performance.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59536" y="5879592"/>
            <a:ext cx="10378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819" b="1">
                <a:solidFill>
                  <a:srgbClr val="007AC4"/>
                </a:solidFill>
                <a:latin typeface="Aptos"/>
              </a:rPr>
              <a:t>VALIDATION METRICS  •  Accuracy  •  Precision  •  Recall  •  F1-score  •  RMSE/MAE  •  False-alarm rate  •  Inference latency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0" name="Rounded Rectangle 17429"/>
          <p:cNvSpPr/>
          <p:nvPr/>
        </p:nvSpPr>
        <p:spPr>
          <a:xfrm>
            <a:off x="6144768" y="388620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144768" y="265176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144768" y="141732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658368" y="388620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58368" y="265176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658368" y="141732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143000"/>
            <a:ext cx="11292840" cy="461772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 algn="ctr">
              <a:defRPr sz="2400" b="1">
                <a:solidFill>
                  <a:srgbClr val="232323"/>
                </a:solidFill>
              </a:defRPr>
            </a:p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00200"/>
            <a:ext cx="93853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00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 b="1">
                <a:solidFill>
                  <a:srgbClr val="FFFFFF"/>
                </a:solidFill>
                <a:latin typeface="Aptos"/>
              </a:defRPr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>
                <a:solidFill>
                  <a:srgbClr val="FFFFFF"/>
                </a:solidFill>
                <a:latin typeface="Aptos"/>
              </a:defRPr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74E9C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B43"/>
                </a:solidFill>
                <a:latin typeface="Aptos"/>
              </a:defRPr>
            </a:pPr>
            <a:r>
              <a:rPr>
                <a:latin typeface="Aptos"/>
              </a:rPr>
              <a:t>StructAI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2377440" y="29260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defRPr sz="2500" b="1">
                <a:solidFill>
                  <a:srgbClr val="162B43"/>
                </a:solidFill>
                <a:latin typeface="Aptos Display"/>
              </a:defRPr>
            </a:pPr>
            <a:r>
              <a:t>RESEARCH &amp; REFERENCES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5074920" y="841248"/>
            <a:ext cx="1828800" cy="411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795528" y="160020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371600" y="153619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Smart India Hackathon 2026 Problem Statement Catalogue — SIH26206: Student Innovation | Disaster Management | AICTE.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795528" y="283464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371600" y="277063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Project research/presentation: CNN-LSTM-GA Framework — Real-Time Multi-Hazard Structural Health Monitoring in Civil Infrastructure.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795528" y="406908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371600" y="400507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TensorFlow/Keras documentation — deep learning implementation.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6281928" y="160020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858000" y="153619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scikit-learn documentation — preprocessing, validation and evaluation utilities.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6281928" y="283464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58000" y="277063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DEAP documentation — evolutionary algorithms / Genetic Algorithm implementation.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6281928" y="4069080"/>
            <a:ext cx="438912" cy="4389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58000" y="4005072"/>
            <a:ext cx="4297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defRPr sz="1250" b="0">
                <a:solidFill>
                  <a:srgbClr val="232A31"/>
                </a:solidFill>
                <a:latin typeface="Aptos"/>
              </a:defRPr>
            </a:pPr>
            <a:r>
              <a:t>Future research directions: online learning, physics-informed AI and Grad-CAM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